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9B+RWU5FfLZFDugQBHctONvLR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bf1055189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8bf1055189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8bf1055189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f98ba6fbc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9f98ba6fbc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9f98ba6fbc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f98ba6fb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9f98ba6fb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9f98ba6fbc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f98ba6fbc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9f98ba6fbc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9f98ba6fbc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9f98ba6fbc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9f98ba6fbc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9f98ba6fbc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8bf1055189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8bf1055189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Origen de imagen: biblioteca de contenido de Microsoft 365</a:t>
            </a:r>
            <a:br>
              <a:rPr lang="es-MX"/>
            </a:br>
            <a:r>
              <a:rPr lang="es-MX"/>
              <a:t>El objetivo del modelo es aumentar la conversión, priorizando a los clientes con mayor probabilidad de contratar una póliza. Se espera lograr métricas altas como AUC y precisión, midiendo el éxito en términos de recall. La justificación principal se basa en el ahorro estimado y el aumento del ROI, reduciendo costos en campañas y mejorando el uso de recursos.</a:t>
            </a:r>
            <a:endParaRPr/>
          </a:p>
        </p:txBody>
      </p:sp>
      <p:sp>
        <p:nvSpPr>
          <p:cNvPr id="425" name="Google Shape;425;g38bf1055189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1">
  <p:cSld name="Title, Photo 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365760" y="5218032"/>
            <a:ext cx="114604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365760" y="5972629"/>
            <a:ext cx="11460480" cy="4803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1"/>
          <p:cNvSpPr/>
          <p:nvPr>
            <p:ph idx="2" type="pic"/>
          </p:nvPr>
        </p:nvSpPr>
        <p:spPr>
          <a:xfrm>
            <a:off x="0" y="0"/>
            <a:ext cx="12191999" cy="4986425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5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4">
  <p:cSld name="Content Photo 4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612647" y="320040"/>
            <a:ext cx="6858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612647" y="1380744"/>
            <a:ext cx="685800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2"/>
          <p:cNvSpPr/>
          <p:nvPr>
            <p:ph idx="2" type="pic"/>
          </p:nvPr>
        </p:nvSpPr>
        <p:spPr>
          <a:xfrm>
            <a:off x="8091732" y="0"/>
            <a:ext cx="4100267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4285799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7041440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6">
  <p:cSld name="Content Photo 6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612648" y="583413"/>
            <a:ext cx="436168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612775" y="2212975"/>
            <a:ext cx="4360863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137160" y="6453002"/>
            <a:ext cx="20310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/>
          <p:nvPr>
            <p:ph idx="2" type="pic"/>
          </p:nvPr>
        </p:nvSpPr>
        <p:spPr>
          <a:xfrm>
            <a:off x="5745480" y="0"/>
            <a:ext cx="644652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2168233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4923874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1">
  <p:cSld name="Content Photo 1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8343102" y="1078992"/>
            <a:ext cx="3273552" cy="19427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/>
          <p:nvPr>
            <p:ph idx="2" type="pic"/>
          </p:nvPr>
        </p:nvSpPr>
        <p:spPr>
          <a:xfrm>
            <a:off x="0" y="0"/>
            <a:ext cx="778136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7"/>
          <p:cNvSpPr txBox="1"/>
          <p:nvPr>
            <p:ph idx="1" type="body"/>
          </p:nvPr>
        </p:nvSpPr>
        <p:spPr>
          <a:xfrm>
            <a:off x="8344096" y="3099816"/>
            <a:ext cx="3273552" cy="295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0" type="dt"/>
          </p:nvPr>
        </p:nvSpPr>
        <p:spPr>
          <a:xfrm>
            <a:off x="8343102" y="6453002"/>
            <a:ext cx="10036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1" type="ftr"/>
          </p:nvPr>
        </p:nvSpPr>
        <p:spPr>
          <a:xfrm>
            <a:off x="9346761" y="6453002"/>
            <a:ext cx="23351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1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5">
  <p:cSld name="Content Photo 15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12646" y="603504"/>
            <a:ext cx="10972802" cy="970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/>
          <p:nvPr>
            <p:ph idx="2" type="pic"/>
          </p:nvPr>
        </p:nvSpPr>
        <p:spPr>
          <a:xfrm>
            <a:off x="612645" y="1828800"/>
            <a:ext cx="6172200" cy="4425696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7327395" y="1828800"/>
            <a:ext cx="4251960" cy="4428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5">
  <p:cSld name="Title, Content 5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614677" y="877456"/>
            <a:ext cx="4142232" cy="4940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5522913" y="877456"/>
            <a:ext cx="6159500" cy="5390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612648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612648" y="2311121"/>
            <a:ext cx="3595634" cy="39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5134708" y="553615"/>
            <a:ext cx="6440258" cy="5755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2">
  <p:cSld name="Title, Photo 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ctrTitle"/>
          </p:nvPr>
        </p:nvSpPr>
        <p:spPr>
          <a:xfrm>
            <a:off x="7168896" y="1129554"/>
            <a:ext cx="4361688" cy="34752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7168897" y="4731335"/>
            <a:ext cx="4206240" cy="118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/>
          <p:nvPr>
            <p:ph idx="2" type="pic"/>
          </p:nvPr>
        </p:nvSpPr>
        <p:spPr>
          <a:xfrm>
            <a:off x="0" y="0"/>
            <a:ext cx="65849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9"/>
          <p:cNvSpPr txBox="1"/>
          <p:nvPr>
            <p:ph idx="10" type="dt"/>
          </p:nvPr>
        </p:nvSpPr>
        <p:spPr>
          <a:xfrm>
            <a:off x="7168895" y="6453002"/>
            <a:ext cx="17076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Photo 3">
  <p:cSld name="Title, Photo 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ctrTitle"/>
          </p:nvPr>
        </p:nvSpPr>
        <p:spPr>
          <a:xfrm>
            <a:off x="365760" y="411480"/>
            <a:ext cx="4654296" cy="373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" type="subTitle"/>
          </p:nvPr>
        </p:nvSpPr>
        <p:spPr>
          <a:xfrm>
            <a:off x="365760" y="4873752"/>
            <a:ext cx="4206240" cy="13807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0"/>
          <p:cNvSpPr/>
          <p:nvPr>
            <p:ph idx="2" type="pic"/>
          </p:nvPr>
        </p:nvSpPr>
        <p:spPr>
          <a:xfrm>
            <a:off x="5596128" y="0"/>
            <a:ext cx="659587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20"/>
          <p:cNvSpPr txBox="1"/>
          <p:nvPr>
            <p:ph idx="10" type="dt"/>
          </p:nvPr>
        </p:nvSpPr>
        <p:spPr>
          <a:xfrm>
            <a:off x="137160" y="6453002"/>
            <a:ext cx="19517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1" type="ftr"/>
          </p:nvPr>
        </p:nvSpPr>
        <p:spPr>
          <a:xfrm>
            <a:off x="2088937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4844578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ctrTitle"/>
          </p:nvPr>
        </p:nvSpPr>
        <p:spPr>
          <a:xfrm>
            <a:off x="521208" y="548642"/>
            <a:ext cx="7478991" cy="363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rial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521208" y="4473553"/>
            <a:ext cx="665552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 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ctrTitle"/>
          </p:nvPr>
        </p:nvSpPr>
        <p:spPr>
          <a:xfrm>
            <a:off x="618008" y="854239"/>
            <a:ext cx="7876287" cy="35926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subTitle"/>
          </p:nvPr>
        </p:nvSpPr>
        <p:spPr>
          <a:xfrm>
            <a:off x="658368" y="4617138"/>
            <a:ext cx="7375466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 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ctrTitle"/>
          </p:nvPr>
        </p:nvSpPr>
        <p:spPr>
          <a:xfrm>
            <a:off x="1981200" y="1318302"/>
            <a:ext cx="8229600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" type="subTitle"/>
          </p:nvPr>
        </p:nvSpPr>
        <p:spPr>
          <a:xfrm>
            <a:off x="2301923" y="4039647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3" name="Google Shape;103;p2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type="ctrTitle"/>
          </p:nvPr>
        </p:nvSpPr>
        <p:spPr>
          <a:xfrm>
            <a:off x="274320" y="1801368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Arial"/>
              <a:buNone/>
              <a:defRPr sz="7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612647" y="664108"/>
            <a:ext cx="846755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612647" y="2333860"/>
            <a:ext cx="8467558" cy="3689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Photo">
  <p:cSld name="Agenda Photo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6858000" y="1161288"/>
            <a:ext cx="46634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/>
          <p:nvPr>
            <p:ph idx="2" type="pic"/>
          </p:nvPr>
        </p:nvSpPr>
        <p:spPr>
          <a:xfrm>
            <a:off x="0" y="0"/>
            <a:ext cx="609904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6"/>
          <p:cNvSpPr txBox="1"/>
          <p:nvPr>
            <p:ph idx="1" type="body"/>
          </p:nvPr>
        </p:nvSpPr>
        <p:spPr>
          <a:xfrm>
            <a:off x="6858000" y="2825496"/>
            <a:ext cx="46634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0" type="dt"/>
          </p:nvPr>
        </p:nvSpPr>
        <p:spPr>
          <a:xfrm>
            <a:off x="6857999" y="6453002"/>
            <a:ext cx="19966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2">
  <p:cSld name="Title, Content 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1028347" y="2385975"/>
            <a:ext cx="4325112" cy="2454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6273800" y="2386584"/>
            <a:ext cx="4325112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3">
  <p:cSld name="Title, Content 3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type="title"/>
          </p:nvPr>
        </p:nvSpPr>
        <p:spPr>
          <a:xfrm>
            <a:off x="1028347" y="2258568"/>
            <a:ext cx="3813048" cy="3557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" type="body"/>
          </p:nvPr>
        </p:nvSpPr>
        <p:spPr>
          <a:xfrm>
            <a:off x="5519738" y="2254250"/>
            <a:ext cx="4956175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4">
  <p:cSld name="Title, Content 4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title"/>
          </p:nvPr>
        </p:nvSpPr>
        <p:spPr>
          <a:xfrm>
            <a:off x="614678" y="1537853"/>
            <a:ext cx="4145582" cy="463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" type="body"/>
          </p:nvPr>
        </p:nvSpPr>
        <p:spPr>
          <a:xfrm>
            <a:off x="5519738" y="1538288"/>
            <a:ext cx="5681662" cy="4818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6">
  <p:cSld name="Title, Content 6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0"/>
          <p:cNvSpPr txBox="1"/>
          <p:nvPr>
            <p:ph type="title"/>
          </p:nvPr>
        </p:nvSpPr>
        <p:spPr>
          <a:xfrm>
            <a:off x="372533" y="548639"/>
            <a:ext cx="3494314" cy="571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" type="body"/>
          </p:nvPr>
        </p:nvSpPr>
        <p:spPr>
          <a:xfrm>
            <a:off x="4504268" y="549274"/>
            <a:ext cx="7315200" cy="580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">
  <p:cSld name="Content Photo 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5538937" y="548640"/>
            <a:ext cx="60932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/>
          <p:nvPr>
            <p:ph idx="2" type="pic"/>
          </p:nvPr>
        </p:nvSpPr>
        <p:spPr>
          <a:xfrm>
            <a:off x="0" y="1"/>
            <a:ext cx="479388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1"/>
          <p:cNvSpPr txBox="1"/>
          <p:nvPr>
            <p:ph idx="1" type="body"/>
          </p:nvPr>
        </p:nvSpPr>
        <p:spPr>
          <a:xfrm>
            <a:off x="5538937" y="1828800"/>
            <a:ext cx="6071616" cy="44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1"/>
          <p:cNvSpPr txBox="1"/>
          <p:nvPr>
            <p:ph idx="10" type="dt"/>
          </p:nvPr>
        </p:nvSpPr>
        <p:spPr>
          <a:xfrm>
            <a:off x="5538937" y="6453002"/>
            <a:ext cx="333758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2">
  <p:cSld name="Content Photo 2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 txBox="1"/>
          <p:nvPr>
            <p:ph type="title"/>
          </p:nvPr>
        </p:nvSpPr>
        <p:spPr>
          <a:xfrm>
            <a:off x="612648" y="548640"/>
            <a:ext cx="613562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2"/>
          <p:cNvSpPr txBox="1"/>
          <p:nvPr>
            <p:ph idx="1" type="body"/>
          </p:nvPr>
        </p:nvSpPr>
        <p:spPr>
          <a:xfrm>
            <a:off x="612774" y="1828800"/>
            <a:ext cx="6135624" cy="448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32"/>
          <p:cNvSpPr/>
          <p:nvPr>
            <p:ph idx="2" type="pic"/>
          </p:nvPr>
        </p:nvSpPr>
        <p:spPr>
          <a:xfrm>
            <a:off x="7400544" y="0"/>
            <a:ext cx="479145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2"/>
          <p:cNvSpPr txBox="1"/>
          <p:nvPr>
            <p:ph idx="11" type="ftr"/>
          </p:nvPr>
        </p:nvSpPr>
        <p:spPr>
          <a:xfrm>
            <a:off x="395059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2"/>
          <p:cNvSpPr txBox="1"/>
          <p:nvPr>
            <p:ph idx="12" type="sldNum"/>
          </p:nvPr>
        </p:nvSpPr>
        <p:spPr>
          <a:xfrm>
            <a:off x="670623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3">
  <p:cSld name="Content Photo 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3"/>
          <p:cNvSpPr txBox="1"/>
          <p:nvPr>
            <p:ph type="title"/>
          </p:nvPr>
        </p:nvSpPr>
        <p:spPr>
          <a:xfrm>
            <a:off x="4745736" y="320040"/>
            <a:ext cx="6858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3"/>
          <p:cNvSpPr/>
          <p:nvPr>
            <p:ph idx="2" type="pic"/>
          </p:nvPr>
        </p:nvSpPr>
        <p:spPr>
          <a:xfrm>
            <a:off x="0" y="1"/>
            <a:ext cx="402336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4745736" y="1380744"/>
            <a:ext cx="685800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33"/>
          <p:cNvSpPr txBox="1"/>
          <p:nvPr>
            <p:ph idx="10" type="dt"/>
          </p:nvPr>
        </p:nvSpPr>
        <p:spPr>
          <a:xfrm>
            <a:off x="4745736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5">
  <p:cSld name="Content Photo 5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type="title"/>
          </p:nvPr>
        </p:nvSpPr>
        <p:spPr>
          <a:xfrm>
            <a:off x="7253808" y="584339"/>
            <a:ext cx="436168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4"/>
          <p:cNvSpPr/>
          <p:nvPr>
            <p:ph idx="2" type="pic"/>
          </p:nvPr>
        </p:nvSpPr>
        <p:spPr>
          <a:xfrm>
            <a:off x="0" y="0"/>
            <a:ext cx="661150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idx="1" type="body"/>
          </p:nvPr>
        </p:nvSpPr>
        <p:spPr>
          <a:xfrm>
            <a:off x="7253745" y="2212975"/>
            <a:ext cx="4362450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34"/>
          <p:cNvSpPr txBox="1"/>
          <p:nvPr>
            <p:ph idx="10" type="dt"/>
          </p:nvPr>
        </p:nvSpPr>
        <p:spPr>
          <a:xfrm>
            <a:off x="7253745" y="6453002"/>
            <a:ext cx="162277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3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7">
  <p:cSld name="Content Photo 7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7094553" y="320040"/>
            <a:ext cx="4522936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5"/>
          <p:cNvSpPr/>
          <p:nvPr>
            <p:ph idx="2" type="pic"/>
          </p:nvPr>
        </p:nvSpPr>
        <p:spPr>
          <a:xfrm>
            <a:off x="1" y="0"/>
            <a:ext cx="649224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35"/>
          <p:cNvSpPr txBox="1"/>
          <p:nvPr>
            <p:ph idx="1" type="body"/>
          </p:nvPr>
        </p:nvSpPr>
        <p:spPr>
          <a:xfrm>
            <a:off x="7104888" y="1380744"/>
            <a:ext cx="4512601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0" type="dt"/>
          </p:nvPr>
        </p:nvSpPr>
        <p:spPr>
          <a:xfrm>
            <a:off x="7104491" y="6453002"/>
            <a:ext cx="17720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8">
  <p:cSld name="Content Photo 8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612648" y="320040"/>
            <a:ext cx="45720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612774" y="1380744"/>
            <a:ext cx="4572000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36"/>
          <p:cNvSpPr txBox="1"/>
          <p:nvPr>
            <p:ph idx="10" type="dt"/>
          </p:nvPr>
        </p:nvSpPr>
        <p:spPr>
          <a:xfrm>
            <a:off x="137160" y="6453002"/>
            <a:ext cx="20310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6"/>
          <p:cNvSpPr/>
          <p:nvPr>
            <p:ph idx="2" type="pic"/>
          </p:nvPr>
        </p:nvSpPr>
        <p:spPr>
          <a:xfrm>
            <a:off x="5917720" y="0"/>
            <a:ext cx="627427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36"/>
          <p:cNvSpPr txBox="1"/>
          <p:nvPr>
            <p:ph idx="11" type="ftr"/>
          </p:nvPr>
        </p:nvSpPr>
        <p:spPr>
          <a:xfrm>
            <a:off x="2168233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idx="12" type="sldNum"/>
          </p:nvPr>
        </p:nvSpPr>
        <p:spPr>
          <a:xfrm>
            <a:off x="4923874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9">
  <p:cSld name="Content Photo 9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type="title"/>
          </p:nvPr>
        </p:nvSpPr>
        <p:spPr>
          <a:xfrm>
            <a:off x="8212663" y="583413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7"/>
          <p:cNvSpPr/>
          <p:nvPr>
            <p:ph idx="2" type="pic"/>
          </p:nvPr>
        </p:nvSpPr>
        <p:spPr>
          <a:xfrm>
            <a:off x="0" y="0"/>
            <a:ext cx="758414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8212790" y="2212975"/>
            <a:ext cx="3401568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10" type="dt"/>
          </p:nvPr>
        </p:nvSpPr>
        <p:spPr>
          <a:xfrm>
            <a:off x="8212663" y="6453002"/>
            <a:ext cx="9223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7"/>
          <p:cNvSpPr txBox="1"/>
          <p:nvPr>
            <p:ph idx="11" type="ftr"/>
          </p:nvPr>
        </p:nvSpPr>
        <p:spPr>
          <a:xfrm>
            <a:off x="9135035" y="6453002"/>
            <a:ext cx="25468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0">
  <p:cSld name="Content Photo 10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8"/>
          <p:cNvSpPr txBox="1"/>
          <p:nvPr>
            <p:ph type="title"/>
          </p:nvPr>
        </p:nvSpPr>
        <p:spPr>
          <a:xfrm>
            <a:off x="612648" y="583413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8"/>
          <p:cNvSpPr txBox="1"/>
          <p:nvPr>
            <p:ph idx="1" type="body"/>
          </p:nvPr>
        </p:nvSpPr>
        <p:spPr>
          <a:xfrm>
            <a:off x="612775" y="2212975"/>
            <a:ext cx="3401568" cy="409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38"/>
          <p:cNvSpPr txBox="1"/>
          <p:nvPr>
            <p:ph idx="10" type="dt"/>
          </p:nvPr>
        </p:nvSpPr>
        <p:spPr>
          <a:xfrm>
            <a:off x="137160" y="6453002"/>
            <a:ext cx="10676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8"/>
          <p:cNvSpPr/>
          <p:nvPr>
            <p:ph idx="2" type="pic"/>
          </p:nvPr>
        </p:nvSpPr>
        <p:spPr>
          <a:xfrm>
            <a:off x="4761780" y="0"/>
            <a:ext cx="743021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8"/>
          <p:cNvSpPr txBox="1"/>
          <p:nvPr>
            <p:ph idx="11" type="ftr"/>
          </p:nvPr>
        </p:nvSpPr>
        <p:spPr>
          <a:xfrm>
            <a:off x="1204785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 txBox="1"/>
          <p:nvPr>
            <p:ph idx="12" type="sldNum"/>
          </p:nvPr>
        </p:nvSpPr>
        <p:spPr>
          <a:xfrm>
            <a:off x="3960426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2">
  <p:cSld name="Content Photo 1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type="title"/>
          </p:nvPr>
        </p:nvSpPr>
        <p:spPr>
          <a:xfrm>
            <a:off x="321733" y="5012268"/>
            <a:ext cx="3739896" cy="13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9"/>
          <p:cNvSpPr/>
          <p:nvPr>
            <p:ph idx="2" type="pic"/>
          </p:nvPr>
        </p:nvSpPr>
        <p:spPr>
          <a:xfrm>
            <a:off x="-1" y="0"/>
            <a:ext cx="12192000" cy="4635132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5349240" y="5012267"/>
            <a:ext cx="6400800" cy="13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3">
  <p:cSld name="Content Photo 13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0"/>
          <p:cNvSpPr txBox="1"/>
          <p:nvPr>
            <p:ph type="title"/>
          </p:nvPr>
        </p:nvSpPr>
        <p:spPr>
          <a:xfrm>
            <a:off x="321733" y="4162318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0"/>
          <p:cNvSpPr/>
          <p:nvPr>
            <p:ph idx="2" type="pic"/>
          </p:nvPr>
        </p:nvSpPr>
        <p:spPr>
          <a:xfrm>
            <a:off x="-1" y="0"/>
            <a:ext cx="12192000" cy="377827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4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0"/>
          <p:cNvSpPr txBox="1"/>
          <p:nvPr>
            <p:ph idx="1" type="body"/>
          </p:nvPr>
        </p:nvSpPr>
        <p:spPr>
          <a:xfrm>
            <a:off x="3977640" y="4162318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p4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4">
  <p:cSld name="Content Photo 14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321733" y="561425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41"/>
          <p:cNvSpPr/>
          <p:nvPr>
            <p:ph idx="2" type="pic"/>
          </p:nvPr>
        </p:nvSpPr>
        <p:spPr>
          <a:xfrm>
            <a:off x="-1" y="3079730"/>
            <a:ext cx="12192000" cy="377827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1"/>
          <p:cNvSpPr txBox="1"/>
          <p:nvPr>
            <p:ph idx="10" type="dt"/>
          </p:nvPr>
        </p:nvSpPr>
        <p:spPr>
          <a:xfrm>
            <a:off x="137160" y="59778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41"/>
          <p:cNvSpPr txBox="1"/>
          <p:nvPr>
            <p:ph idx="1" type="body"/>
          </p:nvPr>
        </p:nvSpPr>
        <p:spPr>
          <a:xfrm>
            <a:off x="3977640" y="561425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41"/>
          <p:cNvSpPr txBox="1"/>
          <p:nvPr>
            <p:ph idx="11" type="ftr"/>
          </p:nvPr>
        </p:nvSpPr>
        <p:spPr>
          <a:xfrm>
            <a:off x="8876521" y="59778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1"/>
          <p:cNvSpPr txBox="1"/>
          <p:nvPr>
            <p:ph idx="12" type="sldNum"/>
          </p:nvPr>
        </p:nvSpPr>
        <p:spPr>
          <a:xfrm>
            <a:off x="11632162" y="59778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6">
  <p:cSld name="Content Photo 16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>
            <p:ph type="title"/>
          </p:nvPr>
        </p:nvSpPr>
        <p:spPr>
          <a:xfrm>
            <a:off x="612648" y="548639"/>
            <a:ext cx="467258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2"/>
          <p:cNvSpPr/>
          <p:nvPr>
            <p:ph idx="2" type="pic"/>
          </p:nvPr>
        </p:nvSpPr>
        <p:spPr>
          <a:xfrm>
            <a:off x="612648" y="2290890"/>
            <a:ext cx="4672584" cy="4041648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42"/>
          <p:cNvSpPr txBox="1"/>
          <p:nvPr>
            <p:ph idx="1" type="body"/>
          </p:nvPr>
        </p:nvSpPr>
        <p:spPr>
          <a:xfrm>
            <a:off x="6096000" y="549275"/>
            <a:ext cx="5585925" cy="5783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4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Photo 17">
  <p:cSld name="Content Photo 17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>
            <p:ph type="title"/>
          </p:nvPr>
        </p:nvSpPr>
        <p:spPr>
          <a:xfrm>
            <a:off x="614678" y="550217"/>
            <a:ext cx="3657603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3"/>
          <p:cNvSpPr/>
          <p:nvPr>
            <p:ph idx="2" type="pic"/>
          </p:nvPr>
        </p:nvSpPr>
        <p:spPr>
          <a:xfrm>
            <a:off x="731521" y="2295144"/>
            <a:ext cx="3490176" cy="4041648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43"/>
          <p:cNvSpPr txBox="1"/>
          <p:nvPr>
            <p:ph idx="1" type="body"/>
          </p:nvPr>
        </p:nvSpPr>
        <p:spPr>
          <a:xfrm>
            <a:off x="5016500" y="549275"/>
            <a:ext cx="6561138" cy="575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4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4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 txBox="1"/>
          <p:nvPr>
            <p:ph type="title"/>
          </p:nvPr>
        </p:nvSpPr>
        <p:spPr>
          <a:xfrm>
            <a:off x="694944" y="4718304"/>
            <a:ext cx="5897880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7573"/>
              </a:buClr>
              <a:buSzPts val="2800"/>
              <a:buFont typeface="Arial"/>
              <a:buNone/>
              <a:defRPr b="0" sz="2800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4"/>
          <p:cNvSpPr txBox="1"/>
          <p:nvPr>
            <p:ph idx="1" type="body"/>
          </p:nvPr>
        </p:nvSpPr>
        <p:spPr>
          <a:xfrm>
            <a:off x="539496" y="603503"/>
            <a:ext cx="10826496" cy="43342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7573"/>
              </a:buClr>
              <a:buSzPts val="23200"/>
              <a:buNone/>
              <a:defRPr b="1" sz="23200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4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 Number 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2377440" y="4809744"/>
            <a:ext cx="752551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07573"/>
              </a:buClr>
              <a:buSzPts val="2800"/>
              <a:buFont typeface="Arial"/>
              <a:buNone/>
              <a:defRPr b="0" sz="2800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5"/>
          <p:cNvSpPr txBox="1"/>
          <p:nvPr>
            <p:ph idx="1" type="body"/>
          </p:nvPr>
        </p:nvSpPr>
        <p:spPr>
          <a:xfrm>
            <a:off x="822960" y="640079"/>
            <a:ext cx="10543032" cy="420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07573"/>
              </a:buClr>
              <a:buSzPts val="23200"/>
              <a:buNone/>
              <a:defRPr b="1" sz="23200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4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3">
  <p:cSld name="Big Number 3">
    <p:bg>
      <p:bgPr>
        <a:solidFill>
          <a:schemeClr val="dk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75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6"/>
          <p:cNvSpPr txBox="1"/>
          <p:nvPr>
            <p:ph type="title"/>
          </p:nvPr>
        </p:nvSpPr>
        <p:spPr>
          <a:xfrm>
            <a:off x="2377440" y="4809744"/>
            <a:ext cx="7525512" cy="154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6"/>
          <p:cNvSpPr txBox="1"/>
          <p:nvPr>
            <p:ph idx="1" type="body"/>
          </p:nvPr>
        </p:nvSpPr>
        <p:spPr>
          <a:xfrm>
            <a:off x="822960" y="640079"/>
            <a:ext cx="10543032" cy="420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3200"/>
              <a:buNone/>
              <a:defRPr b="1" sz="2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4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4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/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4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63" name="Google Shape;263;p47"/>
          <p:cNvSpPr txBox="1"/>
          <p:nvPr>
            <p:ph idx="1" type="body"/>
          </p:nvPr>
        </p:nvSpPr>
        <p:spPr>
          <a:xfrm>
            <a:off x="612648" y="630936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b="1" sz="48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Statement 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/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69" name="Google Shape;269;p48"/>
          <p:cNvSpPr txBox="1"/>
          <p:nvPr>
            <p:ph idx="1" type="body"/>
          </p:nvPr>
        </p:nvSpPr>
        <p:spPr>
          <a:xfrm>
            <a:off x="612648" y="1929384"/>
            <a:ext cx="8266176" cy="41422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Statement 3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/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75" name="Google Shape;275;p49"/>
          <p:cNvSpPr txBox="1"/>
          <p:nvPr>
            <p:ph idx="1" type="body"/>
          </p:nvPr>
        </p:nvSpPr>
        <p:spPr>
          <a:xfrm>
            <a:off x="612648" y="548640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b="1" sz="50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b="1" sz="4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b="1" sz="4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0"/>
          <p:cNvSpPr txBox="1"/>
          <p:nvPr>
            <p:ph type="title"/>
          </p:nvPr>
        </p:nvSpPr>
        <p:spPr>
          <a:xfrm>
            <a:off x="1677008" y="5431536"/>
            <a:ext cx="9021471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7573"/>
              </a:buClr>
              <a:buSzPts val="2200"/>
              <a:buFont typeface="Arial"/>
              <a:buNone/>
              <a:defRPr sz="2200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50"/>
          <p:cNvSpPr txBox="1"/>
          <p:nvPr>
            <p:ph idx="1" type="body"/>
          </p:nvPr>
        </p:nvSpPr>
        <p:spPr>
          <a:xfrm>
            <a:off x="1499616" y="1188720"/>
            <a:ext cx="9198864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5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5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5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Quote 2">
    <p:bg>
      <p:bgPr>
        <a:solidFill>
          <a:schemeClr val="dk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10757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1"/>
          <p:cNvSpPr txBox="1"/>
          <p:nvPr>
            <p:ph type="title"/>
          </p:nvPr>
        </p:nvSpPr>
        <p:spPr>
          <a:xfrm>
            <a:off x="1677009" y="5349240"/>
            <a:ext cx="9043416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51"/>
          <p:cNvSpPr txBox="1"/>
          <p:nvPr>
            <p:ph idx="1" type="body"/>
          </p:nvPr>
        </p:nvSpPr>
        <p:spPr>
          <a:xfrm>
            <a:off x="1499616" y="1344168"/>
            <a:ext cx="9198864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5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Quote 3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2"/>
          <p:cNvSpPr txBox="1"/>
          <p:nvPr>
            <p:ph type="title"/>
          </p:nvPr>
        </p:nvSpPr>
        <p:spPr>
          <a:xfrm>
            <a:off x="790041" y="5669280"/>
            <a:ext cx="8805672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07573"/>
              </a:buClr>
              <a:buSzPts val="2200"/>
              <a:buFont typeface="Arial"/>
              <a:buNone/>
              <a:defRPr sz="2200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52"/>
          <p:cNvSpPr txBox="1"/>
          <p:nvPr>
            <p:ph idx="1" type="body"/>
          </p:nvPr>
        </p:nvSpPr>
        <p:spPr>
          <a:xfrm>
            <a:off x="612648" y="1097280"/>
            <a:ext cx="8961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2" name="Google Shape;292;p5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5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5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3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53"/>
          <p:cNvSpPr txBox="1"/>
          <p:nvPr>
            <p:ph idx="1" type="body"/>
          </p:nvPr>
        </p:nvSpPr>
        <p:spPr>
          <a:xfrm>
            <a:off x="612775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8" name="Google Shape;298;p5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5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5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54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5" name="Google Shape;305;p54"/>
          <p:cNvSpPr txBox="1"/>
          <p:nvPr>
            <p:ph idx="2" type="body"/>
          </p:nvPr>
        </p:nvSpPr>
        <p:spPr>
          <a:xfrm>
            <a:off x="609600" y="2387600"/>
            <a:ext cx="5157788" cy="37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6" name="Google Shape;306;p54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7" name="Google Shape;307;p54"/>
          <p:cNvSpPr txBox="1"/>
          <p:nvPr>
            <p:ph idx="4" type="body"/>
          </p:nvPr>
        </p:nvSpPr>
        <p:spPr>
          <a:xfrm>
            <a:off x="6172200" y="2387600"/>
            <a:ext cx="5183188" cy="376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5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5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5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7"/>
          <p:cNvSpPr txBox="1"/>
          <p:nvPr>
            <p:ph type="title"/>
          </p:nvPr>
        </p:nvSpPr>
        <p:spPr>
          <a:xfrm>
            <a:off x="612648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7"/>
          <p:cNvSpPr txBox="1"/>
          <p:nvPr>
            <p:ph idx="1" type="body"/>
          </p:nvPr>
        </p:nvSpPr>
        <p:spPr>
          <a:xfrm>
            <a:off x="612648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57"/>
          <p:cNvSpPr/>
          <p:nvPr>
            <p:ph idx="2" type="pic"/>
          </p:nvPr>
        </p:nvSpPr>
        <p:spPr>
          <a:xfrm>
            <a:off x="5063319" y="557784"/>
            <a:ext cx="6519080" cy="5779007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5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5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5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>
  <p:cSld name="Conclusion">
    <p:bg>
      <p:bgPr>
        <a:solidFill>
          <a:schemeClr val="dk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8"/>
          <p:cNvSpPr txBox="1"/>
          <p:nvPr>
            <p:ph type="title"/>
          </p:nvPr>
        </p:nvSpPr>
        <p:spPr>
          <a:xfrm>
            <a:off x="614676" y="1847088"/>
            <a:ext cx="10888473" cy="1133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58"/>
          <p:cNvSpPr txBox="1"/>
          <p:nvPr>
            <p:ph idx="1" type="body"/>
          </p:nvPr>
        </p:nvSpPr>
        <p:spPr>
          <a:xfrm>
            <a:off x="612775" y="3594099"/>
            <a:ext cx="10890374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5" name="Google Shape;325;p5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5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5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 2">
  <p:cSld name="Conclusion 2">
    <p:bg>
      <p:bgPr>
        <a:solidFill>
          <a:schemeClr val="dk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9"/>
          <p:cNvSpPr txBox="1"/>
          <p:nvPr>
            <p:ph type="title"/>
          </p:nvPr>
        </p:nvSpPr>
        <p:spPr>
          <a:xfrm>
            <a:off x="612647" y="1627318"/>
            <a:ext cx="8430767" cy="18420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59"/>
          <p:cNvSpPr txBox="1"/>
          <p:nvPr>
            <p:ph idx="1" type="body"/>
          </p:nvPr>
        </p:nvSpPr>
        <p:spPr>
          <a:xfrm>
            <a:off x="612775" y="3622674"/>
            <a:ext cx="8430639" cy="1279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1" name="Google Shape;331;p5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5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toro-sal/Mlops_proyect/tree/mai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"/>
          <p:cNvSpPr/>
          <p:nvPr/>
        </p:nvSpPr>
        <p:spPr>
          <a:xfrm>
            <a:off x="448850" y="2209525"/>
            <a:ext cx="5448300" cy="3008400"/>
          </a:xfrm>
          <a:prstGeom prst="rect">
            <a:avLst/>
          </a:prstGeom>
          <a:solidFill>
            <a:srgbClr val="D0E0E3">
              <a:alpha val="2745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D9D9D9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"/>
          <p:cNvSpPr/>
          <p:nvPr/>
        </p:nvSpPr>
        <p:spPr>
          <a:xfrm>
            <a:off x="5975900" y="2209525"/>
            <a:ext cx="5448300" cy="3008400"/>
          </a:xfrm>
          <a:prstGeom prst="rect">
            <a:avLst/>
          </a:prstGeom>
          <a:solidFill>
            <a:srgbClr val="D0E0E3">
              <a:alpha val="2745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"/>
          <p:cNvSpPr txBox="1"/>
          <p:nvPr>
            <p:ph type="ctrTitle"/>
          </p:nvPr>
        </p:nvSpPr>
        <p:spPr>
          <a:xfrm>
            <a:off x="365760" y="5434232"/>
            <a:ext cx="114606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>
                <a:solidFill>
                  <a:srgbClr val="107573"/>
                </a:solidFill>
              </a:rPr>
              <a:t>Fase 2</a:t>
            </a:r>
            <a:endParaRPr>
              <a:solidFill>
                <a:srgbClr val="107573"/>
              </a:solidFill>
            </a:endParaRPr>
          </a:p>
        </p:txBody>
      </p:sp>
      <p:sp>
        <p:nvSpPr>
          <p:cNvPr id="341" name="Google Shape;341;p1"/>
          <p:cNvSpPr txBox="1"/>
          <p:nvPr/>
        </p:nvSpPr>
        <p:spPr>
          <a:xfrm>
            <a:off x="6320975" y="2619388"/>
            <a:ext cx="4981200" cy="23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MX" sz="18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                     Alumnos</a:t>
            </a:r>
            <a:endParaRPr b="0" i="0" sz="15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A01796355   - Víctor Hugo Cantú Chávez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A01795200 -   Silvia Xochitl Ibañez Vara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A01796238   - Marco Polo Navarrete Rodríguez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MX" sz="14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A01794247   - Juan Felipe Toro Salgado</a:t>
            </a:r>
            <a:endParaRPr b="0" i="0" sz="14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9938" y="220800"/>
            <a:ext cx="4072126" cy="107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"/>
          <p:cNvSpPr txBox="1"/>
          <p:nvPr/>
        </p:nvSpPr>
        <p:spPr>
          <a:xfrm>
            <a:off x="613175" y="2351538"/>
            <a:ext cx="4981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s-MX" sz="1800">
                <a:solidFill>
                  <a:srgbClr val="0B5394"/>
                </a:solidFill>
              </a:rPr>
              <a:t>Equipo 28</a:t>
            </a:r>
            <a:endParaRPr b="0" i="0" sz="17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Catedrático: Dr. Gerardo Rodríguez Hernández</a:t>
            </a:r>
            <a:endParaRPr b="0" i="0" sz="16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MX" sz="16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CAdj: Dr. Ricardo Valdéz Hernández</a:t>
            </a:r>
            <a:endParaRPr b="0" i="0" sz="16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MX" sz="16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TA Luis Daniel Mendoza Morales</a:t>
            </a:r>
            <a:endParaRPr b="0" i="0" sz="16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"/>
          <p:cNvSpPr txBox="1"/>
          <p:nvPr/>
        </p:nvSpPr>
        <p:spPr>
          <a:xfrm>
            <a:off x="3703950" y="1413625"/>
            <a:ext cx="4981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MX" sz="18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Operación de Aprendizaje Automático</a:t>
            </a:r>
            <a:endParaRPr b="1" i="0" sz="18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 sz="1500">
                <a:solidFill>
                  <a:srgbClr val="0B5394"/>
                </a:solidFill>
              </a:rPr>
              <a:t>2</a:t>
            </a:r>
            <a:r>
              <a:rPr b="0" i="0" lang="es-MX" sz="15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s-MX" sz="1500">
                <a:solidFill>
                  <a:srgbClr val="0B5394"/>
                </a:solidFill>
              </a:rPr>
              <a:t>Nov</a:t>
            </a:r>
            <a:r>
              <a:rPr b="0" i="0" lang="es-MX" sz="15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 /2025</a:t>
            </a:r>
            <a:endParaRPr b="0" i="0" sz="15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bf1055189_0_63"/>
          <p:cNvSpPr/>
          <p:nvPr/>
        </p:nvSpPr>
        <p:spPr>
          <a:xfrm>
            <a:off x="630475" y="1440800"/>
            <a:ext cx="5768400" cy="5355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8bf1055189_0_63"/>
          <p:cNvSpPr txBox="1"/>
          <p:nvPr>
            <p:ph type="title"/>
          </p:nvPr>
        </p:nvSpPr>
        <p:spPr>
          <a:xfrm>
            <a:off x="612650" y="548648"/>
            <a:ext cx="106536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MX" sz="3500"/>
              <a:t>Introducción</a:t>
            </a:r>
            <a:endParaRPr sz="3500"/>
          </a:p>
        </p:txBody>
      </p:sp>
      <p:sp>
        <p:nvSpPr>
          <p:cNvPr id="352" name="Google Shape;352;g38bf1055189_0_63"/>
          <p:cNvSpPr txBox="1"/>
          <p:nvPr/>
        </p:nvSpPr>
        <p:spPr>
          <a:xfrm>
            <a:off x="6727427" y="1440800"/>
            <a:ext cx="49812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s-MX" u="none" cap="none" strike="noStrike">
                <a:solidFill>
                  <a:schemeClr val="dk1"/>
                </a:solidFill>
              </a:rPr>
              <a:t>En esta práctica estamos colaborando como una célula multidisciplinaria con los siguientes roles</a:t>
            </a:r>
            <a:r>
              <a:rPr b="1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MX">
                <a:solidFill>
                  <a:schemeClr val="dk1"/>
                </a:solidFill>
              </a:rPr>
              <a:t>Analista de Datos</a:t>
            </a:r>
            <a:r>
              <a:rPr b="0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-MX">
                <a:solidFill>
                  <a:srgbClr val="107573"/>
                </a:solidFill>
              </a:rPr>
              <a:t>Bajo la </a:t>
            </a:r>
            <a:r>
              <a:rPr b="0" i="0" lang="es-MX" u="none" cap="none" strike="noStrike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rPr>
              <a:t>necesidad del negocio </a:t>
            </a:r>
            <a:r>
              <a:rPr lang="es-MX">
                <a:solidFill>
                  <a:srgbClr val="107573"/>
                </a:solidFill>
              </a:rPr>
              <a:t>explicar con datos la problemática y preparar un set de datos útil para modelación</a:t>
            </a:r>
            <a:endParaRPr>
              <a:solidFill>
                <a:srgbClr val="10757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A001795200: Silvia Xochitl Ibañez Vara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1075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Scientist: </a:t>
            </a:r>
            <a:r>
              <a:rPr b="0" i="0" lang="es-MX" u="none" cap="none" strike="noStrike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rPr>
              <a:t>se encargan de traducir la necesidad de del ESM para plantear una propuesta de solución </a:t>
            </a:r>
            <a:r>
              <a:rPr lang="es-MX">
                <a:solidFill>
                  <a:srgbClr val="107573"/>
                </a:solidFill>
              </a:rPr>
              <a:t>ML</a:t>
            </a:r>
            <a:r>
              <a:rPr b="0" i="0" lang="es-MX" u="none" cap="none" strike="noStrike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rPr>
              <a:t> conversar con los ingenieros para definir conjuntamente la estrategia de ML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A01796238 Marco Polo Navarrete Rodríguez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A01796355 Víctor Hugo Cantú Chávez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MLOps Engineer: </a:t>
            </a:r>
            <a:r>
              <a:rPr b="0" i="0" lang="es-MX" u="none" cap="none" strike="noStrike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rPr>
              <a:t>encargado de configurar los ambientes de desarrollo y producción</a:t>
            </a:r>
            <a:endParaRPr b="0" i="0" u="none" cap="none" strike="noStrike">
              <a:solidFill>
                <a:srgbClr val="10757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Ops : </a:t>
            </a:r>
            <a:r>
              <a:rPr b="0" i="0" lang="es-MX" u="none" cap="none" strike="noStrike">
                <a:solidFill>
                  <a:srgbClr val="107573"/>
                </a:solidFill>
                <a:latin typeface="Arial"/>
                <a:ea typeface="Arial"/>
                <a:cs typeface="Arial"/>
                <a:sym typeface="Arial"/>
              </a:rPr>
              <a:t>pipelines, integraciones, apis,encargado de pase a productivo de la solución y control de versiones 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0" i="0" lang="es-MX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A01794247 Juan Felipe Toro Salgado 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8bf1055189_0_63"/>
          <p:cNvSpPr txBox="1"/>
          <p:nvPr/>
        </p:nvSpPr>
        <p:spPr>
          <a:xfrm>
            <a:off x="975764" y="1440800"/>
            <a:ext cx="5077800" cy="54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107573"/>
                </a:solidFill>
              </a:rPr>
              <a:t>¿Qué hicimos en la Fase 2?</a:t>
            </a:r>
            <a:endParaRPr b="1" sz="16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07573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7573"/>
              </a:buClr>
              <a:buSzPts val="2000"/>
              <a:buAutoNum type="arabicPeriod"/>
            </a:pPr>
            <a:r>
              <a:rPr lang="es-MX" sz="1500">
                <a:solidFill>
                  <a:srgbClr val="107573"/>
                </a:solidFill>
              </a:rPr>
              <a:t>Estructuración de Proyectos con Cookiecutter</a:t>
            </a:r>
            <a:endParaRPr sz="15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07573"/>
              </a:buClr>
              <a:buSzPts val="2000"/>
              <a:buAutoNum type="arabicPeriod"/>
            </a:pPr>
            <a:r>
              <a:rPr lang="es-MX" sz="1500">
                <a:solidFill>
                  <a:srgbClr val="107573"/>
                </a:solidFill>
              </a:rPr>
              <a:t>Estructuración y Refactorización del Código</a:t>
            </a:r>
            <a:endParaRPr sz="15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07573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07573"/>
              </a:buClr>
              <a:buSzPts val="2000"/>
              <a:buAutoNum type="arabicPeriod"/>
            </a:pPr>
            <a:r>
              <a:rPr lang="es-MX" sz="1500">
                <a:solidFill>
                  <a:srgbClr val="107573"/>
                </a:solidFill>
              </a:rPr>
              <a:t>Aplicación de Mejores Prácticas de Codificación en el Pipeline de Modelado</a:t>
            </a:r>
            <a:endParaRPr sz="15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07573"/>
              </a:buClr>
              <a:buSzPts val="2000"/>
              <a:buAutoNum type="arabicPeriod"/>
            </a:pPr>
            <a:r>
              <a:rPr lang="es-MX" sz="1500">
                <a:solidFill>
                  <a:srgbClr val="107573"/>
                </a:solidFill>
              </a:rPr>
              <a:t>Seguimiento de Experimentos, Visualización de Resultados y Gestión de Modelo</a:t>
            </a:r>
            <a:endParaRPr sz="15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MX" sz="1300">
                <a:solidFill>
                  <a:srgbClr val="107573"/>
                </a:solidFill>
              </a:rPr>
              <a:t>Video de resumen </a:t>
            </a:r>
            <a:endParaRPr sz="1300">
              <a:solidFill>
                <a:srgbClr val="10757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sz="1300" u="sng">
                <a:solidFill>
                  <a:schemeClr val="hlink"/>
                </a:solidFill>
                <a:hlinkClick r:id="rId3"/>
              </a:rPr>
              <a:t>Link Github</a:t>
            </a:r>
            <a:endParaRPr sz="2000">
              <a:solidFill>
                <a:srgbClr val="10757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f98ba6fbc_0_1"/>
          <p:cNvSpPr txBox="1"/>
          <p:nvPr>
            <p:ph type="title"/>
          </p:nvPr>
        </p:nvSpPr>
        <p:spPr>
          <a:xfrm>
            <a:off x="612650" y="548645"/>
            <a:ext cx="10653600" cy="50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>
                <a:solidFill>
                  <a:srgbClr val="107573"/>
                </a:solidFill>
              </a:rPr>
              <a:t>1.</a:t>
            </a:r>
            <a:r>
              <a:rPr lang="es-MX" sz="1900">
                <a:solidFill>
                  <a:srgbClr val="107573"/>
                </a:solidFill>
              </a:rPr>
              <a:t>Estructuración de Proyectos con Cookiecutter</a:t>
            </a:r>
            <a:endParaRPr sz="4000"/>
          </a:p>
        </p:txBody>
      </p:sp>
      <p:grpSp>
        <p:nvGrpSpPr>
          <p:cNvPr id="360" name="Google Shape;360;g39f98ba6fbc_0_1"/>
          <p:cNvGrpSpPr/>
          <p:nvPr/>
        </p:nvGrpSpPr>
        <p:grpSpPr>
          <a:xfrm>
            <a:off x="846675" y="1672149"/>
            <a:ext cx="10381150" cy="5019599"/>
            <a:chOff x="846675" y="1430000"/>
            <a:chExt cx="10381150" cy="5019599"/>
          </a:xfrm>
        </p:grpSpPr>
        <p:pic>
          <p:nvPicPr>
            <p:cNvPr id="361" name="Google Shape;361;g39f98ba6fbc_0_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07158" y="1577240"/>
              <a:ext cx="4385992" cy="4872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g39f98ba6fbc_0_1"/>
            <p:cNvSpPr txBox="1"/>
            <p:nvPr/>
          </p:nvSpPr>
          <p:spPr>
            <a:xfrm>
              <a:off x="6246625" y="1485725"/>
              <a:ext cx="4981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700">
                  <a:solidFill>
                    <a:schemeClr val="dk1"/>
                  </a:solidFill>
                  <a:highlight>
                    <a:schemeClr val="lt1"/>
                  </a:highlight>
                </a:rPr>
                <a:t>Templete Cookiecutter</a:t>
              </a:r>
              <a:endParaRPr sz="1700">
                <a:solidFill>
                  <a:schemeClr val="dk1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363" name="Google Shape;363;g39f98ba6fbc_0_1"/>
            <p:cNvSpPr txBox="1"/>
            <p:nvPr/>
          </p:nvSpPr>
          <p:spPr>
            <a:xfrm>
              <a:off x="846675" y="1430000"/>
              <a:ext cx="4981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1700">
                  <a:solidFill>
                    <a:schemeClr val="dk1"/>
                  </a:solidFill>
                </a:rPr>
                <a:t>Nuestro Proyecto</a:t>
              </a:r>
              <a:endParaRPr sz="1700">
                <a:solidFill>
                  <a:schemeClr val="dk1"/>
                </a:solidFill>
              </a:endParaRPr>
            </a:p>
          </p:txBody>
        </p:sp>
        <p:pic>
          <p:nvPicPr>
            <p:cNvPr id="364" name="Google Shape;364;g39f98ba6fbc_0_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6675" y="1881850"/>
              <a:ext cx="2777250" cy="4427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65" name="Google Shape;365;g39f98ba6fbc_0_1"/>
            <p:cNvCxnSpPr/>
            <p:nvPr/>
          </p:nvCxnSpPr>
          <p:spPr>
            <a:xfrm flipH="1" rot="10800000">
              <a:off x="1679700" y="2305825"/>
              <a:ext cx="4964100" cy="613800"/>
            </a:xfrm>
            <a:prstGeom prst="bentConnector3">
              <a:avLst>
                <a:gd fmla="val 41637" name="adj1"/>
              </a:avLst>
            </a:prstGeom>
            <a:noFill/>
            <a:ln cap="flat" cmpd="sng" w="19050">
              <a:solidFill>
                <a:srgbClr val="139C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g39f98ba6fbc_0_1"/>
            <p:cNvCxnSpPr/>
            <p:nvPr/>
          </p:nvCxnSpPr>
          <p:spPr>
            <a:xfrm flipH="1" rot="10800000">
              <a:off x="1679700" y="2902175"/>
              <a:ext cx="4869000" cy="276900"/>
            </a:xfrm>
            <a:prstGeom prst="bentConnector3">
              <a:avLst>
                <a:gd fmla="val 46180" name="adj1"/>
              </a:avLst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g39f98ba6fbc_0_1"/>
            <p:cNvCxnSpPr/>
            <p:nvPr/>
          </p:nvCxnSpPr>
          <p:spPr>
            <a:xfrm flipH="1" rot="10800000">
              <a:off x="1869950" y="3109875"/>
              <a:ext cx="4713300" cy="354600"/>
            </a:xfrm>
            <a:prstGeom prst="bentConnector3">
              <a:avLst>
                <a:gd fmla="val 47522" name="adj1"/>
              </a:avLst>
            </a:prstGeom>
            <a:noFill/>
            <a:ln cap="flat" cmpd="sng" w="19050">
              <a:solidFill>
                <a:srgbClr val="139C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" name="Google Shape;368;g39f98ba6fbc_0_1"/>
            <p:cNvCxnSpPr/>
            <p:nvPr/>
          </p:nvCxnSpPr>
          <p:spPr>
            <a:xfrm flipH="1">
              <a:off x="2120625" y="3300150"/>
              <a:ext cx="4376100" cy="4584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g39f98ba6fbc_0_1"/>
            <p:cNvCxnSpPr/>
            <p:nvPr/>
          </p:nvCxnSpPr>
          <p:spPr>
            <a:xfrm flipH="1" rot="10800000">
              <a:off x="1844000" y="3897025"/>
              <a:ext cx="4704600" cy="172800"/>
            </a:xfrm>
            <a:prstGeom prst="bentConnector3">
              <a:avLst>
                <a:gd fmla="val 54228" name="adj1"/>
              </a:avLst>
            </a:prstGeom>
            <a:noFill/>
            <a:ln cap="flat" cmpd="sng" w="19050">
              <a:solidFill>
                <a:srgbClr val="139C9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g39f98ba6fbc_0_1"/>
            <p:cNvCxnSpPr/>
            <p:nvPr/>
          </p:nvCxnSpPr>
          <p:spPr>
            <a:xfrm rot="10800000">
              <a:off x="1832650" y="2608250"/>
              <a:ext cx="4644000" cy="1859400"/>
            </a:xfrm>
            <a:prstGeom prst="bentConnector3">
              <a:avLst>
                <a:gd fmla="val 37804" name="adj1"/>
              </a:avLst>
            </a:prstGeom>
            <a:noFill/>
            <a:ln cap="flat" cmpd="sng" w="19050">
              <a:solidFill>
                <a:schemeClr val="accent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g39f98ba6fbc_0_1"/>
            <p:cNvCxnSpPr/>
            <p:nvPr/>
          </p:nvCxnSpPr>
          <p:spPr>
            <a:xfrm rot="10800000">
              <a:off x="1616325" y="4329225"/>
              <a:ext cx="4912200" cy="259500"/>
            </a:xfrm>
            <a:prstGeom prst="bentConnector3">
              <a:avLst>
                <a:gd fmla="val 37147" name="adj1"/>
              </a:avLst>
            </a:prstGeom>
            <a:noFill/>
            <a:ln cap="flat" cmpd="sng" w="19050">
              <a:solidFill>
                <a:srgbClr val="139C97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g39f98ba6fbc_0_1"/>
            <p:cNvCxnSpPr/>
            <p:nvPr/>
          </p:nvCxnSpPr>
          <p:spPr>
            <a:xfrm flipH="1" rot="10800000">
              <a:off x="2264975" y="2219225"/>
              <a:ext cx="4341300" cy="3537000"/>
            </a:xfrm>
            <a:prstGeom prst="bentConnector3">
              <a:avLst>
                <a:gd fmla="val 57770" name="adj1"/>
              </a:avLst>
            </a:prstGeom>
            <a:noFill/>
            <a:ln cap="flat" cmpd="sng" w="19050">
              <a:solidFill>
                <a:srgbClr val="0C343D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373" name="Google Shape;373;g39f98ba6fbc_0_1"/>
          <p:cNvSpPr txBox="1"/>
          <p:nvPr/>
        </p:nvSpPr>
        <p:spPr>
          <a:xfrm>
            <a:off x="682375" y="979450"/>
            <a:ext cx="1092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107573"/>
                </a:solidFill>
              </a:rPr>
              <a:t>Adoptar </a:t>
            </a:r>
            <a:r>
              <a:rPr b="1" lang="es-MX" sz="1200">
                <a:solidFill>
                  <a:srgbClr val="107573"/>
                </a:solidFill>
              </a:rPr>
              <a:t>Cookiecutter</a:t>
            </a:r>
            <a:r>
              <a:rPr lang="es-MX" sz="1200">
                <a:solidFill>
                  <a:srgbClr val="107573"/>
                </a:solidFill>
              </a:rPr>
              <a:t> no solo ordena un proyecto, sino que cambia la forma de pensar en su construcción. Permite pasar de una lógica improvisada a una arquitectura intencional, donde cada carpeta y módulo tiene un propósito claro. Su estructura estandarizada invita a la colaboración, facilita la trazabilidad y nos recuerda que la reproducibilidad no es un lujo técnico, sino una práctica de rigor y respeto hacia quienes continuarán el trabajo</a:t>
            </a:r>
            <a:endParaRPr sz="2100">
              <a:solidFill>
                <a:srgbClr val="10757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f98ba6fbc_0_10"/>
          <p:cNvSpPr txBox="1"/>
          <p:nvPr>
            <p:ph type="title"/>
          </p:nvPr>
        </p:nvSpPr>
        <p:spPr>
          <a:xfrm>
            <a:off x="439685" y="245954"/>
            <a:ext cx="10653600" cy="113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sz="1900">
                <a:solidFill>
                  <a:srgbClr val="107573"/>
                </a:solidFill>
              </a:rPr>
              <a:t>2.</a:t>
            </a:r>
            <a:r>
              <a:rPr lang="es-MX" sz="1900">
                <a:solidFill>
                  <a:srgbClr val="107573"/>
                </a:solidFill>
              </a:rPr>
              <a:t>Estructuración y Refactorización del Código</a:t>
            </a:r>
            <a:endParaRPr/>
          </a:p>
        </p:txBody>
      </p:sp>
      <p:grpSp>
        <p:nvGrpSpPr>
          <p:cNvPr id="380" name="Google Shape;380;g39f98ba6fbc_0_10"/>
          <p:cNvGrpSpPr/>
          <p:nvPr/>
        </p:nvGrpSpPr>
        <p:grpSpPr>
          <a:xfrm>
            <a:off x="3332025" y="1810552"/>
            <a:ext cx="5284501" cy="4886100"/>
            <a:chOff x="3332025" y="1464625"/>
            <a:chExt cx="5284501" cy="4886100"/>
          </a:xfrm>
        </p:grpSpPr>
        <p:grpSp>
          <p:nvGrpSpPr>
            <p:cNvPr id="381" name="Google Shape;381;g39f98ba6fbc_0_10"/>
            <p:cNvGrpSpPr/>
            <p:nvPr/>
          </p:nvGrpSpPr>
          <p:grpSpPr>
            <a:xfrm>
              <a:off x="3332025" y="1464625"/>
              <a:ext cx="5284501" cy="4886100"/>
              <a:chOff x="6505900" y="1605125"/>
              <a:chExt cx="5284501" cy="4886100"/>
            </a:xfrm>
          </p:grpSpPr>
          <p:pic>
            <p:nvPicPr>
              <p:cNvPr id="382" name="Google Shape;382;g39f98ba6fbc_0_10"/>
              <p:cNvPicPr preferRelativeResize="0"/>
              <p:nvPr/>
            </p:nvPicPr>
            <p:blipFill rotWithShape="1">
              <a:blip r:embed="rId3">
                <a:alphaModFix/>
              </a:blip>
              <a:srcRect b="0" l="38028" r="14923" t="0"/>
              <a:stretch/>
            </p:blipFill>
            <p:spPr>
              <a:xfrm>
                <a:off x="8020208" y="1605125"/>
                <a:ext cx="3770194" cy="4886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3" name="Google Shape;383;g39f98ba6fbc_0_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83388" t="0"/>
              <a:stretch/>
            </p:blipFill>
            <p:spPr>
              <a:xfrm>
                <a:off x="6505900" y="1628975"/>
                <a:ext cx="1514301" cy="4838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84" name="Google Shape;384;g39f98ba6fbc_0_10"/>
            <p:cNvSpPr txBox="1"/>
            <p:nvPr/>
          </p:nvSpPr>
          <p:spPr>
            <a:xfrm>
              <a:off x="3371950" y="1464625"/>
              <a:ext cx="1513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MX" sz="1800">
                  <a:solidFill>
                    <a:srgbClr val="107573"/>
                  </a:solidFill>
                  <a:highlight>
                    <a:schemeClr val="lt1"/>
                  </a:highlight>
                </a:rPr>
                <a:t>Ejemplo:</a:t>
              </a:r>
              <a:endParaRPr b="1" sz="2700">
                <a:solidFill>
                  <a:srgbClr val="107573"/>
                </a:solidFill>
                <a:highlight>
                  <a:schemeClr val="lt1"/>
                </a:highlight>
              </a:endParaRPr>
            </a:p>
          </p:txBody>
        </p:sp>
      </p:grpSp>
      <p:sp>
        <p:nvSpPr>
          <p:cNvPr id="385" name="Google Shape;385;g39f98ba6fbc_0_10"/>
          <p:cNvSpPr txBox="1"/>
          <p:nvPr/>
        </p:nvSpPr>
        <p:spPr>
          <a:xfrm>
            <a:off x="0" y="1810550"/>
            <a:ext cx="2966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1. Encapsulamiento y modularidad:</a:t>
            </a:r>
            <a:endParaRPr b="1" sz="1200">
              <a:solidFill>
                <a:srgbClr val="10757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El archivo</a:t>
            </a:r>
            <a:r>
              <a:rPr lang="es-MX" sz="1200">
                <a:solidFill>
                  <a:srgbClr val="139C97"/>
                </a:solidFill>
                <a:highlight>
                  <a:srgbClr val="FFFFFF"/>
                </a:highlight>
              </a:rPr>
              <a:t> trainer.py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 concentra la lógica de entrenamiento dentro de la clase </a:t>
            </a:r>
            <a:r>
              <a:rPr lang="es-MX" sz="1200">
                <a:solidFill>
                  <a:srgbClr val="139C97"/>
                </a:solidFill>
                <a:highlight>
                  <a:srgbClr val="FFFFFF"/>
                </a:highlight>
              </a:rPr>
              <a:t>ModelTrainer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, lo que encapsula todo el flujo (carga de datos, entrenamiento, evaluación y registro) en un único módulo reutilizable y fácil de mantener.</a:t>
            </a:r>
            <a:endParaRPr sz="2000">
              <a:solidFill>
                <a:schemeClr val="dk1"/>
              </a:solidFill>
            </a:endParaRPr>
          </a:p>
        </p:txBody>
      </p:sp>
      <p:cxnSp>
        <p:nvCxnSpPr>
          <p:cNvPr id="386" name="Google Shape;386;g39f98ba6fbc_0_10"/>
          <p:cNvCxnSpPr>
            <a:stCxn id="385" idx="3"/>
          </p:cNvCxnSpPr>
          <p:nvPr/>
        </p:nvCxnSpPr>
        <p:spPr>
          <a:xfrm>
            <a:off x="2966400" y="2549300"/>
            <a:ext cx="500700" cy="2264100"/>
          </a:xfrm>
          <a:prstGeom prst="bentConnector2">
            <a:avLst/>
          </a:prstGeom>
          <a:noFill/>
          <a:ln cap="flat" cmpd="sng" w="1905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387" name="Google Shape;387;g39f98ba6fbc_0_10"/>
          <p:cNvCxnSpPr/>
          <p:nvPr/>
        </p:nvCxnSpPr>
        <p:spPr>
          <a:xfrm flipH="1" rot="-5400000">
            <a:off x="4236875" y="5087327"/>
            <a:ext cx="1202100" cy="942900"/>
          </a:xfrm>
          <a:prstGeom prst="bentConnector3">
            <a:avLst>
              <a:gd fmla="val -1439" name="adj1"/>
            </a:avLst>
          </a:prstGeom>
          <a:noFill/>
          <a:ln cap="flat" cmpd="sng" w="1905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88" name="Google Shape;388;g39f98ba6fbc_0_10"/>
          <p:cNvSpPr txBox="1"/>
          <p:nvPr/>
        </p:nvSpPr>
        <p:spPr>
          <a:xfrm>
            <a:off x="40800" y="410767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2. Abstracción:</a:t>
            </a:r>
            <a:endParaRPr b="1" sz="1200">
              <a:solidFill>
                <a:srgbClr val="10757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El uso de la clase </a:t>
            </a:r>
            <a:r>
              <a:rPr lang="es-MX" sz="1200">
                <a:solidFill>
                  <a:srgbClr val="139C97"/>
                </a:solidFill>
                <a:highlight>
                  <a:srgbClr val="FFFFFF"/>
                </a:highlight>
              </a:rPr>
              <a:t>ModelTrainingResult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 (definida como </a:t>
            </a:r>
            <a:r>
              <a:rPr lang="es-MX" sz="1200">
                <a:solidFill>
                  <a:srgbClr val="139C97"/>
                </a:solidFill>
                <a:highlight>
                  <a:srgbClr val="FFFFFF"/>
                </a:highlight>
              </a:rPr>
              <a:t>@dataclass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) oculta la complejidad para entrenamiento (modelo, métricas, configuraciones) en una entidad clara y documentada, separando los datos del proceso lógico.</a:t>
            </a:r>
            <a:endParaRPr b="1" sz="1200">
              <a:solidFill>
                <a:srgbClr val="107573"/>
              </a:solidFill>
              <a:highlight>
                <a:srgbClr val="FFFFFF"/>
              </a:highlight>
            </a:endParaRPr>
          </a:p>
        </p:txBody>
      </p:sp>
      <p:cxnSp>
        <p:nvCxnSpPr>
          <p:cNvPr id="389" name="Google Shape;389;g39f98ba6fbc_0_10"/>
          <p:cNvCxnSpPr>
            <a:stCxn id="388" idx="3"/>
          </p:cNvCxnSpPr>
          <p:nvPr/>
        </p:nvCxnSpPr>
        <p:spPr>
          <a:xfrm flipH="1" rot="10800000">
            <a:off x="3040800" y="4400925"/>
            <a:ext cx="2121300" cy="44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0" name="Google Shape;390;g39f98ba6fbc_0_10"/>
          <p:cNvSpPr txBox="1"/>
          <p:nvPr/>
        </p:nvSpPr>
        <p:spPr>
          <a:xfrm>
            <a:off x="8982300" y="1496127"/>
            <a:ext cx="30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3. Herencia y polimorfismo: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En el bloque</a:t>
            </a:r>
            <a:r>
              <a:rPr lang="es-MX" sz="1200">
                <a:solidFill>
                  <a:srgbClr val="139C97"/>
                </a:solidFill>
                <a:highlight>
                  <a:srgbClr val="FFFFFF"/>
                </a:highlight>
              </a:rPr>
              <a:t> MODEL_REGISTRY, 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diferentes modelos (</a:t>
            </a:r>
            <a:r>
              <a:rPr lang="es-MX" sz="1200">
                <a:solidFill>
                  <a:srgbClr val="139C97"/>
                </a:solidFill>
                <a:highlight>
                  <a:srgbClr val="FFFFFF"/>
                </a:highlight>
              </a:rPr>
              <a:t>LogisticRegressionModel, RandomForestMode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l, </a:t>
            </a:r>
            <a:r>
              <a:rPr lang="es-MX" sz="1200">
                <a:solidFill>
                  <a:srgbClr val="139C97"/>
                </a:solidFill>
                <a:highlight>
                  <a:srgbClr val="FFFFFF"/>
                </a:highlight>
              </a:rPr>
              <a:t>GradientBoostingModel, etc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.) heredan de una clase base (</a:t>
            </a:r>
            <a:r>
              <a:rPr lang="es-MX" sz="1200">
                <a:solidFill>
                  <a:srgbClr val="139C97"/>
                </a:solidFill>
                <a:highlight>
                  <a:srgbClr val="FFFFFF"/>
                </a:highlight>
              </a:rPr>
              <a:t>BaseModel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), compartiendo un objeto con estructura pero con comportamientos específicos — un ejemplo claro de polimorfismo aplicado.</a:t>
            </a:r>
            <a:endParaRPr/>
          </a:p>
        </p:txBody>
      </p:sp>
      <p:cxnSp>
        <p:nvCxnSpPr>
          <p:cNvPr id="391" name="Google Shape;391;g39f98ba6fbc_0_10"/>
          <p:cNvCxnSpPr>
            <a:stCxn id="390" idx="1"/>
          </p:cNvCxnSpPr>
          <p:nvPr/>
        </p:nvCxnSpPr>
        <p:spPr>
          <a:xfrm flipH="1">
            <a:off x="5992500" y="2604327"/>
            <a:ext cx="2989800" cy="969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392" name="Google Shape;392;g39f98ba6fbc_0_10"/>
          <p:cNvSpPr txBox="1"/>
          <p:nvPr/>
        </p:nvSpPr>
        <p:spPr>
          <a:xfrm>
            <a:off x="9037325" y="4107677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4. Escalabilidad y reutilización:</a:t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Al tener clases y registros modulares, puedes añadir nuevos modelos o métricas sin alterar el código central del pipeline, </a:t>
            </a:r>
            <a:r>
              <a:rPr b="1" lang="es-MX" sz="1200">
                <a:solidFill>
                  <a:srgbClr val="273540"/>
                </a:solidFill>
                <a:highlight>
                  <a:srgbClr val="FFFFFF"/>
                </a:highlight>
              </a:rPr>
              <a:t>mostrando cómo la OOP facilita la extensión y mantenimiento del proyecto</a:t>
            </a:r>
            <a:r>
              <a:rPr b="1" lang="es-MX" sz="1100">
                <a:solidFill>
                  <a:schemeClr val="dk1"/>
                </a:solidFill>
              </a:rPr>
              <a:t>.</a:t>
            </a:r>
            <a:endParaRPr b="1"/>
          </a:p>
        </p:txBody>
      </p:sp>
      <p:sp>
        <p:nvSpPr>
          <p:cNvPr id="393" name="Google Shape;393;g39f98ba6fbc_0_10"/>
          <p:cNvSpPr txBox="1"/>
          <p:nvPr/>
        </p:nvSpPr>
        <p:spPr>
          <a:xfrm>
            <a:off x="3332025" y="856175"/>
            <a:ext cx="52845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“</a:t>
            </a: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Un código bien estructurado y modularizado es clave para proyectos de ML que evolucionan en el tiempo”</a:t>
            </a:r>
            <a:endParaRPr b="1">
              <a:solidFill>
                <a:srgbClr val="10757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f98ba6fbc_0_25"/>
          <p:cNvSpPr txBox="1"/>
          <p:nvPr>
            <p:ph type="title"/>
          </p:nvPr>
        </p:nvSpPr>
        <p:spPr>
          <a:xfrm>
            <a:off x="612648" y="548640"/>
            <a:ext cx="10653600" cy="113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sz="1900">
                <a:solidFill>
                  <a:srgbClr val="107573"/>
                </a:solidFill>
              </a:rPr>
              <a:t>3</a:t>
            </a:r>
            <a:r>
              <a:rPr lang="es-MX" sz="1900">
                <a:solidFill>
                  <a:srgbClr val="107573"/>
                </a:solidFill>
              </a:rPr>
              <a:t>.</a:t>
            </a:r>
            <a:r>
              <a:rPr lang="es-MX" sz="1900">
                <a:solidFill>
                  <a:srgbClr val="107573"/>
                </a:solidFill>
              </a:rPr>
              <a:t>Aplicación de Mejores Prácticas de Codificación en el Pipeline de Modelado</a:t>
            </a:r>
            <a:endParaRPr/>
          </a:p>
        </p:txBody>
      </p:sp>
      <p:sp>
        <p:nvSpPr>
          <p:cNvPr id="400" name="Google Shape;400;g39f98ba6fbc_0_25"/>
          <p:cNvSpPr txBox="1"/>
          <p:nvPr/>
        </p:nvSpPr>
        <p:spPr>
          <a:xfrm>
            <a:off x="396450" y="4246400"/>
            <a:ext cx="2387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2.Documenta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 cada paso, asegurando que sea </a:t>
            </a:r>
            <a:r>
              <a:rPr b="1" lang="es-MX" sz="1200">
                <a:solidFill>
                  <a:srgbClr val="273540"/>
                </a:solidFill>
                <a:highlight>
                  <a:srgbClr val="FFFFFF"/>
                </a:highlight>
              </a:rPr>
              <a:t>claro, reproducible y entendible por terceros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.</a:t>
            </a:r>
            <a:endParaRPr sz="2000">
              <a:solidFill>
                <a:srgbClr val="107573"/>
              </a:solidFill>
            </a:endParaRPr>
          </a:p>
        </p:txBody>
      </p:sp>
      <p:grpSp>
        <p:nvGrpSpPr>
          <p:cNvPr id="401" name="Google Shape;401;g39f98ba6fbc_0_25"/>
          <p:cNvGrpSpPr/>
          <p:nvPr/>
        </p:nvGrpSpPr>
        <p:grpSpPr>
          <a:xfrm>
            <a:off x="3564510" y="1314329"/>
            <a:ext cx="5757656" cy="5056036"/>
            <a:chOff x="5717771" y="1262450"/>
            <a:chExt cx="5548478" cy="4872349"/>
          </a:xfrm>
        </p:grpSpPr>
        <p:pic>
          <p:nvPicPr>
            <p:cNvPr id="402" name="Google Shape;402;g39f98ba6fbc_0_25"/>
            <p:cNvPicPr preferRelativeResize="0"/>
            <p:nvPr/>
          </p:nvPicPr>
          <p:blipFill rotWithShape="1">
            <a:blip r:embed="rId3">
              <a:alphaModFix/>
            </a:blip>
            <a:srcRect b="0" l="36916" r="0" t="0"/>
            <a:stretch/>
          </p:blipFill>
          <p:spPr>
            <a:xfrm>
              <a:off x="6554400" y="1262450"/>
              <a:ext cx="4711849" cy="4872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g39f98ba6fbc_0_25"/>
            <p:cNvPicPr preferRelativeResize="0"/>
            <p:nvPr/>
          </p:nvPicPr>
          <p:blipFill rotWithShape="1">
            <a:blip r:embed="rId3">
              <a:alphaModFix/>
            </a:blip>
            <a:srcRect b="0" l="0" r="88798" t="0"/>
            <a:stretch/>
          </p:blipFill>
          <p:spPr>
            <a:xfrm>
              <a:off x="5717771" y="1262450"/>
              <a:ext cx="836623" cy="4872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4" name="Google Shape;404;g39f98ba6fbc_0_25"/>
          <p:cNvSpPr txBox="1"/>
          <p:nvPr/>
        </p:nvSpPr>
        <p:spPr>
          <a:xfrm>
            <a:off x="7696050" y="1375202"/>
            <a:ext cx="15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107573"/>
                </a:solidFill>
                <a:highlight>
                  <a:schemeClr val="lt1"/>
                </a:highlight>
              </a:rPr>
              <a:t>Ejemplo:</a:t>
            </a:r>
            <a:endParaRPr b="1" sz="2700">
              <a:solidFill>
                <a:srgbClr val="107573"/>
              </a:solidFill>
              <a:highlight>
                <a:schemeClr val="lt1"/>
              </a:highlight>
            </a:endParaRPr>
          </a:p>
        </p:txBody>
      </p:sp>
      <p:sp>
        <p:nvSpPr>
          <p:cNvPr id="405" name="Google Shape;405;g39f98ba6fbc_0_25"/>
          <p:cNvSpPr txBox="1"/>
          <p:nvPr/>
        </p:nvSpPr>
        <p:spPr>
          <a:xfrm>
            <a:off x="482925" y="1435402"/>
            <a:ext cx="263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1. Pipeline de Scikit-Learn </a:t>
            </a:r>
            <a:r>
              <a:rPr lang="es-MX" sz="1200">
                <a:solidFill>
                  <a:srgbClr val="273540"/>
                </a:solidFill>
                <a:highlight>
                  <a:srgbClr val="FFFFFF"/>
                </a:highlight>
              </a:rPr>
              <a:t>que automatice las etapas de </a:t>
            </a:r>
            <a:r>
              <a:rPr b="1" lang="es-MX" sz="1200">
                <a:solidFill>
                  <a:srgbClr val="273540"/>
                </a:solidFill>
                <a:highlight>
                  <a:srgbClr val="FFFFFF"/>
                </a:highlight>
              </a:rPr>
              <a:t>preprocesamiento, entrenamiento y evaluación</a:t>
            </a:r>
            <a:endParaRPr b="1" sz="1200">
              <a:solidFill>
                <a:srgbClr val="107573"/>
              </a:solidFill>
              <a:highlight>
                <a:srgbClr val="FFFFFF"/>
              </a:highlight>
            </a:endParaRPr>
          </a:p>
        </p:txBody>
      </p:sp>
      <p:cxnSp>
        <p:nvCxnSpPr>
          <p:cNvPr id="406" name="Google Shape;406;g39f98ba6fbc_0_25"/>
          <p:cNvCxnSpPr>
            <a:stCxn id="405" idx="3"/>
          </p:cNvCxnSpPr>
          <p:nvPr/>
        </p:nvCxnSpPr>
        <p:spPr>
          <a:xfrm flipH="1" rot="10800000">
            <a:off x="3121425" y="1709002"/>
            <a:ext cx="1668900" cy="188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407" name="Google Shape;407;g39f98ba6fbc_0_25"/>
          <p:cNvCxnSpPr>
            <a:stCxn id="405" idx="3"/>
            <a:endCxn id="403" idx="1"/>
          </p:cNvCxnSpPr>
          <p:nvPr/>
        </p:nvCxnSpPr>
        <p:spPr>
          <a:xfrm>
            <a:off x="3121425" y="1897102"/>
            <a:ext cx="443100" cy="19452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408" name="Google Shape;408;g39f98ba6fbc_0_25"/>
          <p:cNvSpPr txBox="1"/>
          <p:nvPr/>
        </p:nvSpPr>
        <p:spPr>
          <a:xfrm>
            <a:off x="9509725" y="2623400"/>
            <a:ext cx="2017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s-MX" sz="1200">
                <a:solidFill>
                  <a:srgbClr val="107573"/>
                </a:solidFill>
                <a:highlight>
                  <a:srgbClr val="FFFFFF"/>
                </a:highlight>
              </a:rPr>
              <a:t>“</a:t>
            </a:r>
            <a:r>
              <a:rPr lang="es-MX" sz="1200">
                <a:solidFill>
                  <a:srgbClr val="107573"/>
                </a:solidFill>
                <a:highlight>
                  <a:srgbClr val="FFFFFF"/>
                </a:highlight>
              </a:rPr>
              <a:t>Seguir mejores prácticas garantiza que los proyectos sean </a:t>
            </a:r>
            <a:r>
              <a:rPr b="1" lang="es-MX" sz="1200">
                <a:solidFill>
                  <a:srgbClr val="107573"/>
                </a:solidFill>
                <a:highlight>
                  <a:srgbClr val="FFFFFF"/>
                </a:highlight>
              </a:rPr>
              <a:t>eficientes, confiables y fáciles de replicar</a:t>
            </a:r>
            <a:r>
              <a:rPr lang="es-MX" sz="1200">
                <a:solidFill>
                  <a:srgbClr val="107573"/>
                </a:solidFill>
                <a:highlight>
                  <a:srgbClr val="FFFFFF"/>
                </a:highlight>
              </a:rPr>
              <a:t>.”</a:t>
            </a:r>
            <a:endParaRPr>
              <a:solidFill>
                <a:srgbClr val="107573"/>
              </a:solidFill>
            </a:endParaRPr>
          </a:p>
        </p:txBody>
      </p:sp>
      <p:cxnSp>
        <p:nvCxnSpPr>
          <p:cNvPr id="409" name="Google Shape;409;g39f98ba6fbc_0_25"/>
          <p:cNvCxnSpPr>
            <a:stCxn id="400" idx="3"/>
          </p:cNvCxnSpPr>
          <p:nvPr/>
        </p:nvCxnSpPr>
        <p:spPr>
          <a:xfrm>
            <a:off x="2783850" y="4749650"/>
            <a:ext cx="916800" cy="504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410" name="Google Shape;410;g39f98ba6fbc_0_25"/>
          <p:cNvSpPr/>
          <p:nvPr/>
        </p:nvSpPr>
        <p:spPr>
          <a:xfrm>
            <a:off x="3700650" y="5156400"/>
            <a:ext cx="596700" cy="188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" name="Google Shape;411;g39f98ba6fbc_0_25"/>
          <p:cNvCxnSpPr>
            <a:stCxn id="400" idx="3"/>
          </p:cNvCxnSpPr>
          <p:nvPr/>
        </p:nvCxnSpPr>
        <p:spPr>
          <a:xfrm>
            <a:off x="2783850" y="4749650"/>
            <a:ext cx="600" cy="600"/>
          </a:xfrm>
          <a:prstGeom prst="bentConnector2">
            <a:avLst/>
          </a:prstGeom>
          <a:noFill/>
          <a:ln cap="flat" cmpd="sng" w="1905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412" name="Google Shape;412;g39f98ba6fbc_0_25"/>
          <p:cNvCxnSpPr/>
          <p:nvPr/>
        </p:nvCxnSpPr>
        <p:spPr>
          <a:xfrm flipH="1" rot="10800000">
            <a:off x="4297350" y="4121850"/>
            <a:ext cx="1798800" cy="1128600"/>
          </a:xfrm>
          <a:prstGeom prst="bentConnector3">
            <a:avLst>
              <a:gd fmla="val 7130" name="adj1"/>
            </a:avLst>
          </a:prstGeom>
          <a:noFill/>
          <a:ln cap="flat" cmpd="sng" w="19050">
            <a:solidFill>
              <a:schemeClr val="accent2"/>
            </a:solidFill>
            <a:prstDash val="lg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f98ba6fbc_0_15"/>
          <p:cNvSpPr txBox="1"/>
          <p:nvPr>
            <p:ph type="title"/>
          </p:nvPr>
        </p:nvSpPr>
        <p:spPr>
          <a:xfrm>
            <a:off x="612648" y="548640"/>
            <a:ext cx="10653600" cy="1132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sz="1900">
                <a:solidFill>
                  <a:srgbClr val="107573"/>
                </a:solidFill>
              </a:rPr>
              <a:t>4.</a:t>
            </a:r>
            <a:r>
              <a:rPr lang="es-MX" sz="1900">
                <a:solidFill>
                  <a:srgbClr val="107573"/>
                </a:solidFill>
              </a:rPr>
              <a:t>Seguimiento de Experimentos, Visualización de Resultados y Gestión de Modelos</a:t>
            </a:r>
            <a:endParaRPr/>
          </a:p>
        </p:txBody>
      </p:sp>
      <p:sp>
        <p:nvSpPr>
          <p:cNvPr id="419" name="Google Shape;419;g39f98ba6fbc_0_15"/>
          <p:cNvSpPr txBox="1"/>
          <p:nvPr/>
        </p:nvSpPr>
        <p:spPr>
          <a:xfrm>
            <a:off x="0" y="1255500"/>
            <a:ext cx="4436400" cy="26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Char char="●"/>
            </a:pPr>
            <a:r>
              <a:rPr lang="es-MX" sz="1100">
                <a:solidFill>
                  <a:srgbClr val="273540"/>
                </a:solidFill>
                <a:highlight>
                  <a:srgbClr val="FFFFFF"/>
                </a:highlight>
              </a:rPr>
              <a:t>Usamos  </a:t>
            </a:r>
            <a:r>
              <a:rPr b="1" lang="es-MX" sz="1100">
                <a:solidFill>
                  <a:srgbClr val="273540"/>
                </a:solidFill>
                <a:highlight>
                  <a:srgbClr val="FFFFFF"/>
                </a:highlight>
              </a:rPr>
              <a:t>MLflow, DVC</a:t>
            </a:r>
            <a:r>
              <a:rPr lang="es-MX" sz="1100">
                <a:solidFill>
                  <a:srgbClr val="273540"/>
                </a:solidFill>
                <a:highlight>
                  <a:srgbClr val="FFFFFF"/>
                </a:highlight>
              </a:rPr>
              <a:t> para dar seguimiento a los experimentos.</a:t>
            </a:r>
            <a:endParaRPr sz="11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-29845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Char char="●"/>
            </a:pPr>
            <a:r>
              <a:rPr lang="es-MX" sz="1100">
                <a:solidFill>
                  <a:srgbClr val="273540"/>
                </a:solidFill>
                <a:highlight>
                  <a:srgbClr val="FFFFFF"/>
                </a:highlight>
              </a:rPr>
              <a:t>Documenta y compara cada ejecución.</a:t>
            </a:r>
            <a:endParaRPr sz="11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-298450" lvl="0" marL="698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Char char="●"/>
            </a:pPr>
            <a:r>
              <a:rPr lang="es-MX" sz="1100">
                <a:solidFill>
                  <a:srgbClr val="273540"/>
                </a:solidFill>
                <a:highlight>
                  <a:srgbClr val="FFFFFF"/>
                </a:highlight>
              </a:rPr>
              <a:t>Registro de métricas y control de versiones de los experimentos.</a:t>
            </a:r>
            <a:endParaRPr sz="11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-339849" lvl="0" marL="71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Los resultados registrados en MLflow permiten comparar objetivamente el rendimiento de cada modelo y facilitan la trazabilidad y reproducibilidad de los experimentos.</a:t>
            </a:r>
            <a:endParaRPr sz="11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7573"/>
              </a:solidFill>
            </a:endParaRPr>
          </a:p>
        </p:txBody>
      </p:sp>
      <p:pic>
        <p:nvPicPr>
          <p:cNvPr id="420" name="Google Shape;420;g39f98ba6fbc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900" y="1853250"/>
            <a:ext cx="6495601" cy="37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9f98ba6fbc_0_15"/>
          <p:cNvSpPr txBox="1"/>
          <p:nvPr/>
        </p:nvSpPr>
        <p:spPr>
          <a:xfrm>
            <a:off x="180750" y="3283500"/>
            <a:ext cx="4596300" cy="28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Se compararon varios modelos dentro del experimento </a:t>
            </a:r>
            <a:r>
              <a:rPr i="1" lang="es-MX" sz="1100">
                <a:solidFill>
                  <a:schemeClr val="dk1"/>
                </a:solidFill>
              </a:rPr>
              <a:t>insurance_baseline</a:t>
            </a:r>
            <a:r>
              <a:rPr lang="es-MX" sz="1100">
                <a:solidFill>
                  <a:schemeClr val="dk1"/>
                </a:solidFill>
              </a:rPr>
              <a:t>, registrando métricas como </a:t>
            </a:r>
            <a:r>
              <a:rPr i="1" lang="es-MX" sz="1100">
                <a:solidFill>
                  <a:schemeClr val="dk1"/>
                </a:solidFill>
              </a:rPr>
              <a:t>accuracy</a:t>
            </a:r>
            <a:r>
              <a:rPr lang="es-MX" sz="1100">
                <a:solidFill>
                  <a:schemeClr val="dk1"/>
                </a:solidFill>
              </a:rPr>
              <a:t>, </a:t>
            </a:r>
            <a:r>
              <a:rPr i="1" lang="es-MX" sz="1100">
                <a:solidFill>
                  <a:schemeClr val="dk1"/>
                </a:solidFill>
              </a:rPr>
              <a:t>F1-score</a:t>
            </a:r>
            <a:r>
              <a:rPr lang="es-MX" sz="1100">
                <a:solidFill>
                  <a:schemeClr val="dk1"/>
                </a:solidFill>
              </a:rPr>
              <a:t>, </a:t>
            </a:r>
            <a:r>
              <a:rPr i="1" lang="es-MX" sz="1100">
                <a:solidFill>
                  <a:schemeClr val="dk1"/>
                </a:solidFill>
              </a:rPr>
              <a:t>log loss</a:t>
            </a:r>
            <a:r>
              <a:rPr lang="es-MX" sz="1100">
                <a:solidFill>
                  <a:schemeClr val="dk1"/>
                </a:solidFill>
              </a:rPr>
              <a:t>, </a:t>
            </a:r>
            <a:r>
              <a:rPr i="1" lang="es-MX" sz="1100">
                <a:solidFill>
                  <a:schemeClr val="dk1"/>
                </a:solidFill>
              </a:rPr>
              <a:t>precision</a:t>
            </a:r>
            <a:r>
              <a:rPr lang="es-MX" sz="1100">
                <a:solidFill>
                  <a:schemeClr val="dk1"/>
                </a:solidFill>
              </a:rPr>
              <a:t>, </a:t>
            </a:r>
            <a:r>
              <a:rPr i="1" lang="es-MX" sz="1100">
                <a:solidFill>
                  <a:schemeClr val="dk1"/>
                </a:solidFill>
              </a:rPr>
              <a:t>recall</a:t>
            </a:r>
            <a:r>
              <a:rPr lang="es-MX" sz="1100">
                <a:solidFill>
                  <a:schemeClr val="dk1"/>
                </a:solidFill>
              </a:rPr>
              <a:t> y </a:t>
            </a:r>
            <a:r>
              <a:rPr i="1" lang="es-MX" sz="1100">
                <a:solidFill>
                  <a:schemeClr val="dk1"/>
                </a:solidFill>
              </a:rPr>
              <a:t>AUC</a:t>
            </a:r>
            <a:r>
              <a:rPr lang="es-MX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El modelo</a:t>
            </a:r>
            <a:r>
              <a:rPr lang="es-MX" sz="1100">
                <a:solidFill>
                  <a:srgbClr val="107573"/>
                </a:solidFill>
              </a:rPr>
              <a:t> </a:t>
            </a:r>
            <a:r>
              <a:rPr b="1" lang="es-MX" sz="1100">
                <a:solidFill>
                  <a:srgbClr val="107573"/>
                </a:solidFill>
              </a:rPr>
              <a:t>XGBoost</a:t>
            </a:r>
            <a:r>
              <a:rPr lang="es-MX" sz="1100">
                <a:solidFill>
                  <a:srgbClr val="107573"/>
                </a:solidFill>
              </a:rPr>
              <a:t> presentó los mejores resultados</a:t>
            </a:r>
            <a:r>
              <a:rPr lang="es-MX" sz="1100">
                <a:solidFill>
                  <a:schemeClr val="dk1"/>
                </a:solidFill>
              </a:rPr>
              <a:t> generales, destacando por su mayor </a:t>
            </a:r>
            <a:r>
              <a:rPr i="1" lang="es-MX" sz="1100">
                <a:solidFill>
                  <a:schemeClr val="dk1"/>
                </a:solidFill>
              </a:rPr>
              <a:t>accuracy</a:t>
            </a:r>
            <a:r>
              <a:rPr lang="es-MX" sz="1100">
                <a:solidFill>
                  <a:schemeClr val="dk1"/>
                </a:solidFill>
              </a:rPr>
              <a:t> y </a:t>
            </a:r>
            <a:r>
              <a:rPr i="1" lang="es-MX" sz="1100">
                <a:solidFill>
                  <a:schemeClr val="dk1"/>
                </a:solidFill>
              </a:rPr>
              <a:t>F1-score</a:t>
            </a:r>
            <a:r>
              <a:rPr lang="es-MX" sz="1100">
                <a:solidFill>
                  <a:schemeClr val="dk1"/>
                </a:solidFill>
              </a:rPr>
              <a:t>, lo que indica un buen equilibrio entre precisión y sensibilidad.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En la métrica de </a:t>
            </a:r>
            <a:r>
              <a:rPr i="1" lang="es-MX" sz="1100">
                <a:solidFill>
                  <a:schemeClr val="dk1"/>
                </a:solidFill>
              </a:rPr>
              <a:t>log loss</a:t>
            </a:r>
            <a:r>
              <a:rPr lang="es-MX" sz="1100">
                <a:solidFill>
                  <a:schemeClr val="dk1"/>
                </a:solidFill>
              </a:rPr>
              <a:t>, XGBoost mostró valores más bajos, evidenciando una mejor calibración de probabilidades y mayor estabilidad en las predicciones.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i="1" lang="es-MX" sz="1100">
                <a:solidFill>
                  <a:srgbClr val="107573"/>
                </a:solidFill>
              </a:rPr>
              <a:t>Random Forest</a:t>
            </a:r>
            <a:r>
              <a:rPr b="1" lang="es-MX" sz="1100">
                <a:solidFill>
                  <a:srgbClr val="107573"/>
                </a:solidFill>
              </a:rPr>
              <a:t> </a:t>
            </a:r>
            <a:r>
              <a:rPr lang="es-MX" sz="1100">
                <a:solidFill>
                  <a:schemeClr val="dk1"/>
                </a:solidFill>
              </a:rPr>
              <a:t>también obtuvo métricas competitivas, aunque con un ligero descenso en </a:t>
            </a:r>
            <a:r>
              <a:rPr i="1" lang="es-MX" sz="1100">
                <a:solidFill>
                  <a:schemeClr val="dk1"/>
                </a:solidFill>
              </a:rPr>
              <a:t>recall</a:t>
            </a:r>
            <a:r>
              <a:rPr lang="es-MX" sz="1100">
                <a:solidFill>
                  <a:schemeClr val="dk1"/>
                </a:solidFill>
              </a:rPr>
              <a:t> y </a:t>
            </a:r>
            <a:r>
              <a:rPr i="1" lang="es-MX" sz="1100">
                <a:solidFill>
                  <a:schemeClr val="dk1"/>
                </a:solidFill>
              </a:rPr>
              <a:t>AUC</a:t>
            </a:r>
            <a:r>
              <a:rPr lang="es-MX" sz="1100">
                <a:solidFill>
                  <a:schemeClr val="dk1"/>
                </a:solidFill>
              </a:rPr>
              <a:t> frente a XGBoost.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Los valores de </a:t>
            </a:r>
            <a:r>
              <a:rPr i="1" lang="es-MX" sz="1100">
                <a:solidFill>
                  <a:schemeClr val="dk1"/>
                </a:solidFill>
              </a:rPr>
              <a:t>AUC</a:t>
            </a:r>
            <a:r>
              <a:rPr lang="es-MX" sz="1100">
                <a:solidFill>
                  <a:schemeClr val="dk1"/>
                </a:solidFill>
              </a:rPr>
              <a:t> superiores a 0.8 confirman una buena capacidad de discriminación entre clases, esencial en la predicción de riesgos del dataset de seguros.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8bf1055189_0_72"/>
          <p:cNvSpPr txBox="1"/>
          <p:nvPr>
            <p:ph type="title"/>
          </p:nvPr>
        </p:nvSpPr>
        <p:spPr>
          <a:xfrm>
            <a:off x="612648" y="548640"/>
            <a:ext cx="106536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s-MX"/>
              <a:t>Conclusiones y Reflexión final</a:t>
            </a:r>
            <a:endParaRPr>
              <a:solidFill>
                <a:srgbClr val="139C97"/>
              </a:solidFill>
            </a:endParaRPr>
          </a:p>
        </p:txBody>
      </p:sp>
      <p:sp>
        <p:nvSpPr>
          <p:cNvPr id="428" name="Google Shape;428;g38bf1055189_0_72"/>
          <p:cNvSpPr txBox="1"/>
          <p:nvPr/>
        </p:nvSpPr>
        <p:spPr>
          <a:xfrm>
            <a:off x="325875" y="1685100"/>
            <a:ext cx="11627400" cy="4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El proyecto logró transformar la exploración de datos en una herramienta funcional que permite priorizar clientes con mayor probabilidad de respuesta, optimizando el uso del presupuesto y evitando esfuerzos dispersos.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La aplicación de MLOps permitió construir un flujo reproducible, escalable y estructurado, integrando mejores prácticas de codificación, control de versiones y trazabilidad de experimentos con MLflow y DVC.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La organización del proyecto con </a:t>
            </a:r>
            <a:r>
              <a:rPr b="1" lang="es-MX" sz="1100">
                <a:solidFill>
                  <a:schemeClr val="dk1"/>
                </a:solidFill>
              </a:rPr>
              <a:t>Cookiecutter</a:t>
            </a:r>
            <a:r>
              <a:rPr lang="es-MX" sz="1100">
                <a:solidFill>
                  <a:schemeClr val="dk1"/>
                </a:solidFill>
              </a:rPr>
              <a:t> favoreció la colaboración, claridad en la arquitectura y facilidad para futuras modificaciones o despliegues.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Se identificaron patrones de clientes más receptivos, mostrando que el valor de un modelo no está solo en su precisión, sino en su capacidad para apoyar decisiones concretas del negocio.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MX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Reflexión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Este proyecto nos permitió comprender la importancia de aplicar un enfoque estructurado en ciencia de datos, donde la organización, la colaboración y la reproducibilidad pesan tanto como la precisión del modelo.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Aprendimos que implementar buenas prácticas desde el inicio —como el uso de </a:t>
            </a:r>
            <a:r>
              <a:rPr i="1" lang="es-MX" sz="1100">
                <a:solidFill>
                  <a:schemeClr val="dk1"/>
                </a:solidFill>
              </a:rPr>
              <a:t>Cookiecutter</a:t>
            </a:r>
            <a:r>
              <a:rPr lang="es-MX" sz="1100">
                <a:solidFill>
                  <a:schemeClr val="dk1"/>
                </a:solidFill>
              </a:rPr>
              <a:t>, GitHub y MLflow— no solo facilita el trabajo técnico, sino que también mejora la comunicación y la trazabilidad entre los miembros del equipo.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La experiencia de configurar entornos, gestionar versiones y seguir un pipeline completo nos acercó a la forma en que se trabaja en proyectos reales de MLOps.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MX" sz="1100">
                <a:solidFill>
                  <a:schemeClr val="dk1"/>
                </a:solidFill>
              </a:rPr>
              <a:t>Más allá de los resultados del modelo, el verdadero valor estuvo en entender el proceso completo: cómo una buena estructura, documentación y control de experimentos permiten que un proyecto sea sostenible y escalable.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Helena">
  <a:themeElements>
    <a:clrScheme name="Helen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2025-10-06T03:17:48Z</dcterms:created>
  <dc:creator>Sergio Lee</dc:creator>
</cp:coreProperties>
</file>